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df2b9df37f483e" /><Relationship Type="http://schemas.openxmlformats.org/officeDocument/2006/relationships/extended-properties" Target="/docProps/app.xml" Id="Rf9d60d7fe1694486" /><Relationship Type="http://schemas.openxmlformats.org/officeDocument/2006/relationships/officeDocument" Target="/ppt/presentation.xml" Id="R18842c85b7ab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d4261f7264084"/>
  </p:sldMasterIdLst>
  <p:notesMasterIdLst>
    <p:notesMasterId xmlns:r="http://schemas.openxmlformats.org/officeDocument/2006/relationships" r:id="R38e7955117f849ec"/>
  </p:notesMasterIdLst>
  <p:sldIdLst>
    <p:sldId xmlns:r="http://schemas.openxmlformats.org/officeDocument/2006/relationships" id="256" r:id="R4371afc9651f4a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bd3e8b64794272" /><Relationship Type="http://schemas.openxmlformats.org/officeDocument/2006/relationships/slideMaster" Target="/ppt/slideMasters/slideMaster1.xml" Id="Rd1dd4261f7264084" /><Relationship Type="http://schemas.openxmlformats.org/officeDocument/2006/relationships/notesMaster" Target="/ppt/notesMasters/notesMaster1.xml" Id="R38e7955117f849ec" /><Relationship Type="http://schemas.openxmlformats.org/officeDocument/2006/relationships/presProps" Target="/ppt/presProps.xml" Id="R74b49bf5874e44fd" /><Relationship Type="http://schemas.openxmlformats.org/officeDocument/2006/relationships/tableStyles" Target="/ppt/tableStyles.xml" Id="R9c3af4fb5e7f418d" /><Relationship Type="http://schemas.openxmlformats.org/officeDocument/2006/relationships/slide" Target="/ppt/slides/slide1.xml" Id="R4371afc9651f4a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880b05fc042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apiente">
  <a:themeElements>
    <a:clrScheme name="Sapient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pien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2806583b74e1d" /><Relationship Type="http://schemas.openxmlformats.org/officeDocument/2006/relationships/notesMaster" Target="/ppt/notesMasters/notesMaster1.xml" Id="R1fb23e8a44ea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https://doi.org/10.3389/fmicb.2019.00646</a:t>
            </a:r>
          </a:p>
          <a:p xmlns:a="http://schemas.openxmlformats.org/drawingml/2006/main">
            <a:r>
              <a:t>https://doi.org/10.1128/MMBR.00036-06</a:t>
            </a:r>
          </a:p>
          <a:p xmlns:a="http://schemas.openxmlformats.org/drawingml/2006/main">
            <a:r>
              <a:t>https://doi.org/10.1128/mBio.03230-19</a:t>
            </a:r>
          </a:p>
          <a:p xmlns:a="http://schemas.openxmlformats.org/drawingml/2006/main">
            <a:r>
              <a:t>https://doi.org/10.1074/jbc.RA120.013508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a347f03d347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88acd20034db5" /><Relationship Type="http://schemas.openxmlformats.org/officeDocument/2006/relationships/slideLayout" Target="/ppt/slideLayouts/slideLayout1.xml" Id="R68fe786cf1c6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e786cf1c6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apiente">
  <a:themeElements>
    <a:clrScheme name="Sapient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pien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44308529040ac" /><Relationship Type="http://schemas.openxmlformats.org/officeDocument/2006/relationships/notesSlide" Target="/ppt/notesSlides/notesSlide1.xml" Id="R79d57ab6f0a4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title">
            <a:extLst xmlns:a="http://schemas.openxmlformats.org/drawingml/2006/main">
              <a:ext uri="{FF2B5EF4-FFF2-40B4-BE49-F238E27FC236}">
                <a16:creationId xmlns:a16="http://schemas.microsoft.com/office/drawing/2014/main" id="{C1F9FCA6-CDDF-47F4-BBED-AEBB6008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Protein bacteriocin killing mechanism</a:t>
            </a:r>
          </a:p>
        </p:txBody>
      </p:sp>
      <p:sp>
        <p:nvSpPr>
          <p:cNvPr id="2" name="outside-label">
            <a:extLst xmlns:a="http://schemas.openxmlformats.org/drawingml/2006/main">
              <a:ext uri="{FF2B5EF4-FFF2-40B4-BE49-F238E27FC236}">
                <a16:creationId xmlns:a16="http://schemas.microsoft.com/office/drawing/2014/main" id="{D102281A-CEFD-4122-ACA5-930E6117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74"/>
                </a:solidFill>
              </a:defRPr>
            </a:pPr>
            <a:r>
              <a:rPr sz="1350" b="1">
                <a:solidFill>
                  <a:srgbClr val="526174"/>
                </a:solidFill>
              </a:rPr>
              <a:t>Outside target cell</a:t>
            </a:r>
          </a:p>
        </p:txBody>
      </p:sp>
      <p:sp>
        <p:nvSpPr>
          <p:cNvPr id="3" name="periplasm-label">
            <a:extLst xmlns:a="http://schemas.openxmlformats.org/drawingml/2006/main">
              <a:ext uri="{FF2B5EF4-FFF2-40B4-BE49-F238E27FC236}">
                <a16:creationId xmlns:a16="http://schemas.microsoft.com/office/drawing/2014/main" id="{5735FA83-2374-4F74-8DBF-2B8C00C0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74"/>
                </a:solidFill>
              </a:defRPr>
            </a:pPr>
            <a:r>
              <a:rPr sz="1350" b="1">
                <a:solidFill>
                  <a:srgbClr val="526174"/>
                </a:solidFill>
              </a:rPr>
              <a:t>Periplasm</a:t>
            </a:r>
          </a:p>
        </p:txBody>
      </p:sp>
      <p:sp>
        <p:nvSpPr>
          <p:cNvPr id="4" name="cytoplasm-label">
            <a:extLst xmlns:a="http://schemas.openxmlformats.org/drawingml/2006/main">
              <a:ext uri="{FF2B5EF4-FFF2-40B4-BE49-F238E27FC236}">
                <a16:creationId xmlns:a16="http://schemas.microsoft.com/office/drawing/2014/main" id="{199F8F32-1E0B-4BD4-BD08-7B5B02D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74"/>
                </a:solidFill>
              </a:defRPr>
            </a:pPr>
            <a:r>
              <a:rPr sz="1350" b="1">
                <a:solidFill>
                  <a:srgbClr val="526174"/>
                </a:solidFill>
              </a:rPr>
              <a:t>Cytoplasm</a:t>
            </a:r>
          </a:p>
        </p:txBody>
      </p:sp>
      <p:sp>
        <p:nvSpPr>
          <p:cNvPr id="5" name="outer-membrane-top">
            <a:extLst xmlns:a="http://schemas.openxmlformats.org/drawingml/2006/main">
              <a:ext uri="{FF2B5EF4-FFF2-40B4-BE49-F238E27FC236}">
                <a16:creationId xmlns:a16="http://schemas.microsoft.com/office/drawing/2014/main" id="{11A3086C-404C-45E2-8FAB-5AC15977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1125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6D8"/>
          </a:solidFill>
          <a:ln xmlns:a="http://schemas.openxmlformats.org/drawingml/2006/main" w="7620">
            <a:solidFill>
              <a:srgbClr val="2D6E9C"/>
            </a:solidFill>
            <a:prstDash val="solid"/>
          </a:ln>
        </p:spPr>
      </p:sp>
      <p:sp>
        <p:nvSpPr>
          <p:cNvPr id="6" name="outer-membrane-bottom">
            <a:extLst xmlns:a="http://schemas.openxmlformats.org/drawingml/2006/main">
              <a:ext uri="{FF2B5EF4-FFF2-40B4-BE49-F238E27FC236}">
                <a16:creationId xmlns:a16="http://schemas.microsoft.com/office/drawing/2014/main" id="{37666FF1-5889-4758-9318-A98E41D0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1125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6D8"/>
          </a:solidFill>
          <a:ln xmlns:a="http://schemas.openxmlformats.org/drawingml/2006/main" w="7620">
            <a:solidFill>
              <a:srgbClr val="2D6E9C"/>
            </a:solidFill>
            <a:prstDash val="solid"/>
          </a:ln>
        </p:spPr>
      </p:sp>
      <p:sp>
        <p:nvSpPr>
          <p:cNvPr id="7" name="outer-membrane-label">
            <a:extLst xmlns:a="http://schemas.openxmlformats.org/drawingml/2006/main">
              <a:ext uri="{FF2B5EF4-FFF2-40B4-BE49-F238E27FC236}">
                <a16:creationId xmlns:a16="http://schemas.microsoft.com/office/drawing/2014/main" id="{A5653FF8-1543-4F9A-80F2-CDB594F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E9C"/>
                </a:solidFill>
              </a:defRPr>
            </a:pPr>
            <a:r>
              <a:rPr sz="1200" b="1">
                <a:solidFill>
                  <a:srgbClr val="2D6E9C"/>
                </a:solidFill>
              </a:rPr>
              <a:t>Outer membrane</a:t>
            </a:r>
          </a:p>
        </p:txBody>
      </p:sp>
      <p:sp>
        <p:nvSpPr>
          <p:cNvPr id="8" name="inner-membrane-top">
            <a:extLst xmlns:a="http://schemas.openxmlformats.org/drawingml/2006/main">
              <a:ext uri="{FF2B5EF4-FFF2-40B4-BE49-F238E27FC236}">
                <a16:creationId xmlns:a16="http://schemas.microsoft.com/office/drawing/2014/main" id="{797714E4-8213-457A-8A17-BB3D0995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A5"/>
          </a:solidFill>
          <a:ln xmlns:a="http://schemas.openxmlformats.org/drawingml/2006/main" w="7620">
            <a:solidFill>
              <a:srgbClr val="297A6C"/>
            </a:solidFill>
            <a:prstDash val="solid"/>
          </a:ln>
        </p:spPr>
      </p:sp>
      <p:sp>
        <p:nvSpPr>
          <p:cNvPr id="9" name="inner-membrane-bottom">
            <a:extLst xmlns:a="http://schemas.openxmlformats.org/drawingml/2006/main">
              <a:ext uri="{FF2B5EF4-FFF2-40B4-BE49-F238E27FC236}">
                <a16:creationId xmlns:a16="http://schemas.microsoft.com/office/drawing/2014/main" id="{28329AF5-3174-4D20-B770-E8B2E40A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1125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A5"/>
          </a:solidFill>
          <a:ln xmlns:a="http://schemas.openxmlformats.org/drawingml/2006/main" w="7620">
            <a:solidFill>
              <a:srgbClr val="297A6C"/>
            </a:solidFill>
            <a:prstDash val="solid"/>
          </a:ln>
        </p:spPr>
      </p:sp>
      <p:sp>
        <p:nvSpPr>
          <p:cNvPr id="10" name="inner-membrane-label">
            <a:extLst xmlns:a="http://schemas.openxmlformats.org/drawingml/2006/main">
              <a:ext uri="{FF2B5EF4-FFF2-40B4-BE49-F238E27FC236}">
                <a16:creationId xmlns:a16="http://schemas.microsoft.com/office/drawing/2014/main" id="{44920AF5-45C8-4052-999E-59F26164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48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97A6C"/>
                </a:solidFill>
              </a:defRPr>
            </a:pPr>
            <a:r>
              <a:rPr sz="1200" b="1">
                <a:solidFill>
                  <a:srgbClr val="297A6C"/>
                </a:solidFill>
              </a:rPr>
              <a:t>Inner membrane</a:t>
            </a:r>
          </a:p>
        </p:txBody>
      </p:sp>
      <p:sp>
        <p:nvSpPr>
          <p:cNvPr id="11" name="binding-arrow">
            <a:extLst xmlns:a="http://schemas.openxmlformats.org/drawingml/2006/main">
              <a:ext uri="{FF2B5EF4-FFF2-40B4-BE49-F238E27FC236}">
                <a16:creationId xmlns:a16="http://schemas.microsoft.com/office/drawing/2014/main" id="{65A8AC29-2C6D-48AB-99E0-4CC78280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1352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11430">
            <a:solidFill>
              <a:srgbClr val="526174"/>
            </a:solidFill>
            <a:prstDash val="solid"/>
          </a:ln>
        </p:spPr>
      </p:sp>
      <p:sp>
        <p:nvSpPr>
          <p:cNvPr id="12" name="import-arrow">
            <a:extLst xmlns:a="http://schemas.openxmlformats.org/drawingml/2006/main">
              <a:ext uri="{FF2B5EF4-FFF2-40B4-BE49-F238E27FC236}">
                <a16:creationId xmlns:a16="http://schemas.microsoft.com/office/drawing/2014/main" id="{AB2EB10A-F0DC-453F-9EE3-783CACCE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9450"/>
            <a:ext cx="666750" cy="1190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11430">
            <a:solidFill>
              <a:srgbClr val="526174"/>
            </a:solidFill>
            <a:prstDash val="solid"/>
          </a:ln>
        </p:spPr>
      </p:sp>
      <p:sp>
        <p:nvSpPr>
          <p:cNvPr id="13" name="periplasm-route">
            <a:extLst xmlns:a="http://schemas.openxmlformats.org/drawingml/2006/main">
              <a:ext uri="{FF2B5EF4-FFF2-40B4-BE49-F238E27FC236}">
                <a16:creationId xmlns:a16="http://schemas.microsoft.com/office/drawing/2014/main" id="{4C10D334-D5C4-4EFD-BA79-2458A1C6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2266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C36B"/>
          </a:solidFill>
          <a:ln xmlns:a="http://schemas.openxmlformats.org/drawingml/2006/main" w="10478">
            <a:solidFill>
              <a:srgbClr val="B66B13"/>
            </a:solidFill>
            <a:prstDash val="solid"/>
          </a:ln>
        </p:spPr>
      </p:sp>
      <p:sp>
        <p:nvSpPr>
          <p:cNvPr id="14" name="pore-route">
            <a:extLst xmlns:a="http://schemas.openxmlformats.org/drawingml/2006/main">
              <a:ext uri="{FF2B5EF4-FFF2-40B4-BE49-F238E27FC236}">
                <a16:creationId xmlns:a16="http://schemas.microsoft.com/office/drawing/2014/main" id="{A3897F75-9CC4-4DEB-88FC-89397318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1752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C36B"/>
          </a:solidFill>
          <a:ln xmlns:a="http://schemas.openxmlformats.org/drawingml/2006/main" w="10478">
            <a:solidFill>
              <a:srgbClr val="B66B13"/>
            </a:solidFill>
            <a:prstDash val="solid"/>
          </a:ln>
        </p:spPr>
      </p:sp>
      <p:sp>
        <p:nvSpPr>
          <p:cNvPr id="15" name="nuclease-route">
            <a:extLst xmlns:a="http://schemas.openxmlformats.org/drawingml/2006/main">
              <a:ext uri="{FF2B5EF4-FFF2-40B4-BE49-F238E27FC236}">
                <a16:creationId xmlns:a16="http://schemas.microsoft.com/office/drawing/2014/main" id="{15CCEAA3-4F96-4247-938F-FAD0339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2152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C36B"/>
          </a:solidFill>
          <a:ln xmlns:a="http://schemas.openxmlformats.org/drawingml/2006/main" w="10478">
            <a:solidFill>
              <a:srgbClr val="B66B13"/>
            </a:solidFill>
            <a:prstDash val="solid"/>
          </a:ln>
        </p:spPr>
      </p:sp>
      <p:sp>
        <p:nvSpPr>
          <p:cNvPr id="16" name="translocation-domain">
            <a:extLst xmlns:a="http://schemas.openxmlformats.org/drawingml/2006/main">
              <a:ext uri="{FF2B5EF4-FFF2-40B4-BE49-F238E27FC236}">
                <a16:creationId xmlns:a16="http://schemas.microsoft.com/office/drawing/2014/main" id="{0A17EB87-20CD-465F-9FE5-0966575F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D73C7"/>
          </a:solidFill>
          <a:ln xmlns:a="http://schemas.openxmlformats.org/drawingml/2006/main" w="14288">
            <a:solidFill>
              <a:srgbClr val="5A4291"/>
            </a:solidFill>
            <a:prstDash val="solid"/>
          </a:ln>
        </p:spPr>
      </p:sp>
      <p:sp>
        <p:nvSpPr>
          <p:cNvPr id="17" name="binding-domain">
            <a:extLst xmlns:a="http://schemas.openxmlformats.org/drawingml/2006/main">
              <a:ext uri="{FF2B5EF4-FFF2-40B4-BE49-F238E27FC236}">
                <a16:creationId xmlns:a16="http://schemas.microsoft.com/office/drawing/2014/main" id="{00ED27EE-23C4-41B9-BF35-16773BD8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8590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D97CA"/>
          </a:solidFill>
          <a:ln xmlns:a="http://schemas.openxmlformats.org/drawingml/2006/main" w="14288">
            <a:solidFill>
              <a:srgbClr val="2D6E9C"/>
            </a:solidFill>
            <a:prstDash val="solid"/>
          </a:ln>
        </p:spPr>
      </p:sp>
      <p:sp>
        <p:nvSpPr>
          <p:cNvPr id="18" name="killing-domain">
            <a:extLst xmlns:a="http://schemas.openxmlformats.org/drawingml/2006/main">
              <a:ext uri="{FF2B5EF4-FFF2-40B4-BE49-F238E27FC236}">
                <a16:creationId xmlns:a16="http://schemas.microsoft.com/office/drawing/2014/main" id="{5F6D751F-68E2-4442-9C75-F2161DF4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85900"/>
            <a:ext cx="781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9B3B"/>
          </a:solidFill>
          <a:ln xmlns:a="http://schemas.openxmlformats.org/drawingml/2006/main" w="14288">
            <a:solidFill>
              <a:srgbClr val="B66B13"/>
            </a:solidFill>
            <a:prstDash val="solid"/>
          </a:ln>
        </p:spPr>
      </p:sp>
      <p:sp>
        <p:nvSpPr>
          <p:cNvPr id="19" name="translocation-domain-label">
            <a:extLst xmlns:a="http://schemas.openxmlformats.org/drawingml/2006/main">
              <a:ext uri="{FF2B5EF4-FFF2-40B4-BE49-F238E27FC236}">
                <a16:creationId xmlns:a16="http://schemas.microsoft.com/office/drawing/2014/main" id="{04846A58-B705-4B77-A168-4B1F1D17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Import</a:t>
            </a:r>
          </a:p>
        </p:txBody>
      </p:sp>
      <p:sp>
        <p:nvSpPr>
          <p:cNvPr id="20" name="binding-domain-label">
            <a:extLst xmlns:a="http://schemas.openxmlformats.org/drawingml/2006/main">
              <a:ext uri="{FF2B5EF4-FFF2-40B4-BE49-F238E27FC236}">
                <a16:creationId xmlns:a16="http://schemas.microsoft.com/office/drawing/2014/main" id="{51A24EC1-6867-41CF-822D-409BC53D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192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Binding</a:t>
            </a:r>
          </a:p>
        </p:txBody>
      </p:sp>
      <p:sp>
        <p:nvSpPr>
          <p:cNvPr id="21" name="killing-domain-label">
            <a:extLst xmlns:a="http://schemas.openxmlformats.org/drawingml/2006/main">
              <a:ext uri="{FF2B5EF4-FFF2-40B4-BE49-F238E27FC236}">
                <a16:creationId xmlns:a16="http://schemas.microsoft.com/office/drawing/2014/main" id="{379C728C-035B-42FD-8263-FA0EDF76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Killing</a:t>
            </a:r>
          </a:p>
        </p:txBody>
      </p:sp>
      <p:sp>
        <p:nvSpPr>
          <p:cNvPr id="22" name="bacteriocin-label">
            <a:extLst xmlns:a="http://schemas.openxmlformats.org/drawingml/2006/main">
              <a:ext uri="{FF2B5EF4-FFF2-40B4-BE49-F238E27FC236}">
                <a16:creationId xmlns:a16="http://schemas.microsoft.com/office/drawing/2014/main" id="{AD7CBE53-759A-48FA-8ED4-A27EEA31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Protein bacteriocin</a:t>
            </a:r>
          </a:p>
        </p:txBody>
      </p:sp>
      <p:sp>
        <p:nvSpPr>
          <p:cNvPr id="23" name="module-order-note">
            <a:extLst xmlns:a="http://schemas.openxmlformats.org/drawingml/2006/main">
              <a:ext uri="{FF2B5EF4-FFF2-40B4-BE49-F238E27FC236}">
                <a16:creationId xmlns:a16="http://schemas.microsoft.com/office/drawing/2014/main" id="{2783E01B-B63C-47C4-BD90-F40D870A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Typical modules; order varies among families</a:t>
            </a:r>
          </a:p>
        </p:txBody>
      </p:sp>
      <p:sp>
        <p:nvSpPr>
          <p:cNvPr id="24" name="receptor">
            <a:extLst xmlns:a="http://schemas.openxmlformats.org/drawingml/2006/main">
              <a:ext uri="{FF2B5EF4-FFF2-40B4-BE49-F238E27FC236}">
                <a16:creationId xmlns:a16="http://schemas.microsoft.com/office/drawing/2014/main" id="{316A2DC0-7694-4475-9C4A-5DE139E2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95550"/>
            <a:ext cx="10096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C7FB1"/>
          </a:solidFill>
          <a:ln xmlns:a="http://schemas.openxmlformats.org/drawingml/2006/main" w="17145">
            <a:solidFill>
              <a:srgbClr val="1F5B84"/>
            </a:solidFill>
            <a:prstDash val="solid"/>
          </a:ln>
        </p:spPr>
      </p:sp>
      <p:sp>
        <p:nvSpPr>
          <p:cNvPr id="25" name="receptor-channel">
            <a:extLst xmlns:a="http://schemas.openxmlformats.org/drawingml/2006/main">
              <a:ext uri="{FF2B5EF4-FFF2-40B4-BE49-F238E27FC236}">
                <a16:creationId xmlns:a16="http://schemas.microsoft.com/office/drawing/2014/main" id="{AEE180AA-77EA-4BCC-8D4A-C8342AD5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90800"/>
            <a:ext cx="323850" cy="7239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5B84"/>
            </a:solidFill>
            <a:prstDash val="solid"/>
          </a:ln>
        </p:spPr>
      </p:sp>
      <p:sp>
        <p:nvSpPr>
          <p:cNvPr id="26" name="receptor-label">
            <a:extLst xmlns:a="http://schemas.openxmlformats.org/drawingml/2006/main">
              <a:ext uri="{FF2B5EF4-FFF2-40B4-BE49-F238E27FC236}">
                <a16:creationId xmlns:a16="http://schemas.microsoft.com/office/drawing/2014/main" id="{785227EE-9737-4E38-AE79-378AA15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5B84"/>
                </a:solidFill>
              </a:defRPr>
            </a:pPr>
            <a:r>
              <a:rPr sz="1350" b="1">
                <a:solidFill>
                  <a:srgbClr val="1F5B84"/>
                </a:solidFill>
              </a:rPr>
              <a:t>Receptor or surface glycan</a:t>
            </a:r>
          </a:p>
        </p:txBody>
      </p:sp>
      <p:sp>
        <p:nvSpPr>
          <p:cNvPr id="27" name="unfolded-import">
            <a:extLst xmlns:a="http://schemas.openxmlformats.org/drawingml/2006/main">
              <a:ext uri="{FF2B5EF4-FFF2-40B4-BE49-F238E27FC236}">
                <a16:creationId xmlns:a16="http://schemas.microsoft.com/office/drawing/2014/main" id="{47A10802-AE6D-45F7-AA80-C6401ED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90900"/>
            <a:ext cx="285750" cy="8953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D73C7"/>
          </a:solidFill>
          <a:ln xmlns:a="http://schemas.openxmlformats.org/drawingml/2006/main" w="11430">
            <a:solidFill>
              <a:srgbClr val="5A4291"/>
            </a:solidFill>
            <a:prstDash val="solid"/>
          </a:ln>
        </p:spPr>
      </p:sp>
      <p:sp>
        <p:nvSpPr>
          <p:cNvPr id="28" name="translocation-label">
            <a:extLst xmlns:a="http://schemas.openxmlformats.org/drawingml/2006/main">
              <a:ext uri="{FF2B5EF4-FFF2-40B4-BE49-F238E27FC236}">
                <a16:creationId xmlns:a16="http://schemas.microsoft.com/office/drawing/2014/main" id="{5AB38D91-E2B3-46DA-B327-1965BC3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76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4291"/>
                </a:solidFill>
              </a:defRPr>
            </a:pPr>
            <a:r>
              <a:rPr sz="1200" b="1">
                <a:solidFill>
                  <a:srgbClr val="5A4291"/>
                </a:solidFill>
              </a:rPr>
              <a:t>Flexible import region</a:t>
            </a:r>
          </a:p>
        </p:txBody>
      </p:sp>
      <p:sp>
        <p:nvSpPr>
          <p:cNvPr id="29" name="energy">
            <a:extLst xmlns:a="http://schemas.openxmlformats.org/drawingml/2006/main">
              <a:ext uri="{FF2B5EF4-FFF2-40B4-BE49-F238E27FC236}">
                <a16:creationId xmlns:a16="http://schemas.microsoft.com/office/drawing/2014/main" id="{BAEF3482-8EAE-45BE-9B7C-FE00EBDD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19525"/>
            <a:ext cx="476250" cy="685800"/>
          </a:xfrm>
          <a:prstGeom xmlns:a="http://schemas.openxmlformats.org/drawingml/2006/main" prst="lightningBolt">
            <a:avLst/>
          </a:prstGeom>
          <a:solidFill xmlns:a="http://schemas.openxmlformats.org/drawingml/2006/main">
            <a:srgbClr val="F3C64B"/>
          </a:solidFill>
          <a:ln xmlns:a="http://schemas.openxmlformats.org/drawingml/2006/main" w="11430">
            <a:solidFill>
              <a:srgbClr val="A87900"/>
            </a:solidFill>
            <a:prstDash val="solid"/>
          </a:ln>
        </p:spPr>
      </p:sp>
      <p:sp>
        <p:nvSpPr>
          <p:cNvPr id="30" name="ton-tol">
            <a:extLst xmlns:a="http://schemas.openxmlformats.org/drawingml/2006/main">
              <a:ext uri="{FF2B5EF4-FFF2-40B4-BE49-F238E27FC236}">
                <a16:creationId xmlns:a16="http://schemas.microsoft.com/office/drawing/2014/main" id="{438969F1-C782-471C-85C8-B428CFAC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528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DDF6"/>
          </a:solidFill>
          <a:ln xmlns:a="http://schemas.openxmlformats.org/drawingml/2006/main" w="13335">
            <a:solidFill>
              <a:srgbClr val="7957A5"/>
            </a:solidFill>
            <a:prstDash val="solid"/>
          </a:ln>
        </p:spPr>
      </p:sp>
      <p:sp>
        <p:nvSpPr>
          <p:cNvPr id="31" name="ton-tol-label">
            <a:extLst xmlns:a="http://schemas.openxmlformats.org/drawingml/2006/main">
              <a:ext uri="{FF2B5EF4-FFF2-40B4-BE49-F238E27FC236}">
                <a16:creationId xmlns:a16="http://schemas.microsoft.com/office/drawing/2014/main" id="{67FA7C44-B265-4611-8927-70DD3023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A4291"/>
                </a:solidFill>
              </a:defRPr>
            </a:pPr>
            <a:r>
              <a:rPr sz="1200" b="1">
                <a:solidFill>
                  <a:srgbClr val="5A4291"/>
                </a:solidFill>
              </a:rPr>
              <a:t>Ton or Tol system</a:t>
            </a:r>
          </a:p>
        </p:txBody>
      </p:sp>
      <p:sp>
        <p:nvSpPr>
          <p:cNvPr id="32" name="energy-label">
            <a:extLst xmlns:a="http://schemas.openxmlformats.org/drawingml/2006/main">
              <a:ext uri="{FF2B5EF4-FFF2-40B4-BE49-F238E27FC236}">
                <a16:creationId xmlns:a16="http://schemas.microsoft.com/office/drawing/2014/main" id="{9BF0F1C6-0107-4BB1-8662-C874351E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2907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174"/>
                </a:solidFill>
              </a:defRPr>
            </a:pPr>
            <a:r>
              <a:rPr sz="1200" b="1">
                <a:solidFill>
                  <a:srgbClr val="526174"/>
                </a:solidFill>
              </a:rPr>
              <a:t>Energy-linked</a:t>
            </a:r>
          </a:p>
          <a:p xmlns:a="http://schemas.openxmlformats.org/drawingml/2006/main">
            <a:pPr algn="ctr">
              <a:defRPr sz="1200" b="1">
                <a:solidFill>
                  <a:srgbClr val="526174"/>
                </a:solidFill>
              </a:defRPr>
            </a:pPr>
            <a:r>
              <a:rPr sz="1200" b="1">
                <a:solidFill>
                  <a:srgbClr val="526174"/>
                </a:solidFill>
              </a:rPr>
              <a:t>import</a:t>
            </a:r>
          </a:p>
        </p:txBody>
      </p:sp>
      <p:sp>
        <p:nvSpPr>
          <p:cNvPr id="33" name="effects-label">
            <a:extLst xmlns:a="http://schemas.openxmlformats.org/drawingml/2006/main">
              <a:ext uri="{FF2B5EF4-FFF2-40B4-BE49-F238E27FC236}">
                <a16:creationId xmlns:a16="http://schemas.microsoft.com/office/drawing/2014/main" id="{BA40D9FA-5AA6-4054-AF58-E5751A70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174"/>
                </a:solidFill>
              </a:defRPr>
            </a:pPr>
            <a:r>
              <a:rPr sz="1350" b="1">
                <a:solidFill>
                  <a:srgbClr val="526174"/>
                </a:solidFill>
              </a:rPr>
              <a:t>Possible family-specific killing sites</a:t>
            </a:r>
          </a:p>
        </p:txBody>
      </p:sp>
      <p:sp>
        <p:nvSpPr>
          <p:cNvPr id="34" name="periplasm-domain">
            <a:extLst xmlns:a="http://schemas.openxmlformats.org/drawingml/2006/main">
              <a:ext uri="{FF2B5EF4-FFF2-40B4-BE49-F238E27FC236}">
                <a16:creationId xmlns:a16="http://schemas.microsoft.com/office/drawing/2014/main" id="{F158E798-2129-4613-BB92-C72B4B2C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6286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3B"/>
          </a:solidFill>
          <a:ln xmlns:a="http://schemas.openxmlformats.org/drawingml/2006/main" w="14288">
            <a:solidFill>
              <a:srgbClr val="B66B13"/>
            </a:solidFill>
            <a:prstDash val="solid"/>
          </a:ln>
        </p:spPr>
      </p:sp>
      <p:sp>
        <p:nvSpPr>
          <p:cNvPr id="35" name="periplasm-domain-label">
            <a:extLst xmlns:a="http://schemas.openxmlformats.org/drawingml/2006/main">
              <a:ext uri="{FF2B5EF4-FFF2-40B4-BE49-F238E27FC236}">
                <a16:creationId xmlns:a16="http://schemas.microsoft.com/office/drawing/2014/main" id="{7576EAFC-DE41-42B9-8212-CCC874FA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Killing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36" name="brick-one">
            <a:extLst xmlns:a="http://schemas.openxmlformats.org/drawingml/2006/main">
              <a:ext uri="{FF2B5EF4-FFF2-40B4-BE49-F238E27FC236}">
                <a16:creationId xmlns:a16="http://schemas.microsoft.com/office/drawing/2014/main" id="{3868B819-60C1-4EA2-997F-9B798299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6C"/>
          </a:solidFill>
          <a:ln xmlns:a="http://schemas.openxmlformats.org/drawingml/2006/main" w="9525">
            <a:solidFill>
              <a:srgbClr val="8E622D"/>
            </a:solidFill>
            <a:prstDash val="solid"/>
          </a:ln>
        </p:spPr>
      </p:sp>
      <p:sp>
        <p:nvSpPr>
          <p:cNvPr id="37" name="brick-two">
            <a:extLst xmlns:a="http://schemas.openxmlformats.org/drawingml/2006/main">
              <a:ext uri="{FF2B5EF4-FFF2-40B4-BE49-F238E27FC236}">
                <a16:creationId xmlns:a16="http://schemas.microsoft.com/office/drawing/2014/main" id="{0A12A3A6-E5B0-4389-887C-D8EF5D77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338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6C"/>
          </a:solidFill>
          <a:ln xmlns:a="http://schemas.openxmlformats.org/drawingml/2006/main" w="9525">
            <a:solidFill>
              <a:srgbClr val="8E622D"/>
            </a:solidFill>
            <a:prstDash val="solid"/>
          </a:ln>
        </p:spPr>
      </p:sp>
      <p:sp>
        <p:nvSpPr>
          <p:cNvPr id="38" name="brick-three">
            <a:extLst xmlns:a="http://schemas.openxmlformats.org/drawingml/2006/main">
              <a:ext uri="{FF2B5EF4-FFF2-40B4-BE49-F238E27FC236}">
                <a16:creationId xmlns:a16="http://schemas.microsoft.com/office/drawing/2014/main" id="{7C6DDD01-311F-45DE-87AA-E95E45A3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6C"/>
          </a:solidFill>
          <a:ln xmlns:a="http://schemas.openxmlformats.org/drawingml/2006/main" w="9525">
            <a:solidFill>
              <a:srgbClr val="8E622D"/>
            </a:solidFill>
            <a:prstDash val="solid"/>
          </a:ln>
        </p:spPr>
      </p:sp>
      <p:sp>
        <p:nvSpPr>
          <p:cNvPr id="39" name="missing-brick">
            <a:extLst xmlns:a="http://schemas.openxmlformats.org/drawingml/2006/main">
              <a:ext uri="{FF2B5EF4-FFF2-40B4-BE49-F238E27FC236}">
                <a16:creationId xmlns:a16="http://schemas.microsoft.com/office/drawing/2014/main" id="{F2DDA922-5333-400C-8326-2C126400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338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B4B"/>
            </a:solidFill>
            <a:prstDash val="solid"/>
          </a:ln>
        </p:spPr>
      </p:sp>
      <p:sp>
        <p:nvSpPr>
          <p:cNvPr id="40" name="wall-label">
            <a:extLst xmlns:a="http://schemas.openxmlformats.org/drawingml/2006/main">
              <a:ext uri="{FF2B5EF4-FFF2-40B4-BE49-F238E27FC236}">
                <a16:creationId xmlns:a16="http://schemas.microsoft.com/office/drawing/2014/main" id="{6DC7EF13-AFE7-43CD-98B2-FC86E57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338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Peptidoglycan damage</a:t>
            </a:r>
          </a:p>
        </p:txBody>
      </p:sp>
      <p:sp>
        <p:nvSpPr>
          <p:cNvPr id="41" name="pore-domain">
            <a:extLst xmlns:a="http://schemas.openxmlformats.org/drawingml/2006/main">
              <a:ext uri="{FF2B5EF4-FFF2-40B4-BE49-F238E27FC236}">
                <a16:creationId xmlns:a16="http://schemas.microsoft.com/office/drawing/2014/main" id="{8CCF2BBC-402A-443B-B6C1-D6AE5373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24375"/>
            <a:ext cx="6286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3B"/>
          </a:solidFill>
          <a:ln xmlns:a="http://schemas.openxmlformats.org/drawingml/2006/main" w="14288">
            <a:solidFill>
              <a:srgbClr val="B66B13"/>
            </a:solidFill>
            <a:prstDash val="solid"/>
          </a:ln>
        </p:spPr>
      </p:sp>
      <p:sp>
        <p:nvSpPr>
          <p:cNvPr id="42" name="pore-domain-label">
            <a:extLst xmlns:a="http://schemas.openxmlformats.org/drawingml/2006/main">
              <a:ext uri="{FF2B5EF4-FFF2-40B4-BE49-F238E27FC236}">
                <a16:creationId xmlns:a16="http://schemas.microsoft.com/office/drawing/2014/main" id="{6033C066-C151-441B-B672-01DCF06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815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Killing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43" name="pore-membrane-left">
            <a:extLst xmlns:a="http://schemas.openxmlformats.org/drawingml/2006/main">
              <a:ext uri="{FF2B5EF4-FFF2-40B4-BE49-F238E27FC236}">
                <a16:creationId xmlns:a16="http://schemas.microsoft.com/office/drawing/2014/main" id="{A42E137E-DF38-4693-B950-C2AEB22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5772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A5"/>
          </a:solidFill>
          <a:ln xmlns:a="http://schemas.openxmlformats.org/drawingml/2006/main" w="7620">
            <a:solidFill>
              <a:srgbClr val="297A6C"/>
            </a:solidFill>
            <a:prstDash val="solid"/>
          </a:ln>
        </p:spPr>
      </p:sp>
      <p:sp>
        <p:nvSpPr>
          <p:cNvPr id="44" name="pore-membrane-right">
            <a:extLst xmlns:a="http://schemas.openxmlformats.org/drawingml/2006/main">
              <a:ext uri="{FF2B5EF4-FFF2-40B4-BE49-F238E27FC236}">
                <a16:creationId xmlns:a16="http://schemas.microsoft.com/office/drawing/2014/main" id="{794C3517-7B66-4922-AE26-1443CAFB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57725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7A5"/>
          </a:solidFill>
          <a:ln xmlns:a="http://schemas.openxmlformats.org/drawingml/2006/main" w="7620">
            <a:solidFill>
              <a:srgbClr val="297A6C"/>
            </a:solidFill>
            <a:prstDash val="solid"/>
          </a:ln>
        </p:spPr>
      </p:sp>
      <p:sp>
        <p:nvSpPr>
          <p:cNvPr id="45" name="pore">
            <a:extLst xmlns:a="http://schemas.openxmlformats.org/drawingml/2006/main">
              <a:ext uri="{FF2B5EF4-FFF2-40B4-BE49-F238E27FC236}">
                <a16:creationId xmlns:a16="http://schemas.microsoft.com/office/drawing/2014/main" id="{600CB386-0059-4CBD-9616-B834AB2E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66700" cy="533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9525">
            <a:solidFill>
              <a:srgbClr val="A52F2F"/>
            </a:solidFill>
            <a:prstDash val="solid"/>
          </a:ln>
        </p:spPr>
      </p:sp>
      <p:sp>
        <p:nvSpPr>
          <p:cNvPr id="46" name="pore-label">
            <a:extLst xmlns:a="http://schemas.openxmlformats.org/drawingml/2006/main">
              <a:ext uri="{FF2B5EF4-FFF2-40B4-BE49-F238E27FC236}">
                <a16:creationId xmlns:a16="http://schemas.microsoft.com/office/drawing/2014/main" id="{03560009-71DE-488C-826D-32CFF73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005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Pore formation</a:t>
            </a:r>
          </a:p>
        </p:txBody>
      </p:sp>
      <p:sp>
        <p:nvSpPr>
          <p:cNvPr id="47" name="nuclease-domain">
            <a:extLst xmlns:a="http://schemas.openxmlformats.org/drawingml/2006/main">
              <a:ext uri="{FF2B5EF4-FFF2-40B4-BE49-F238E27FC236}">
                <a16:creationId xmlns:a16="http://schemas.microsoft.com/office/drawing/2014/main" id="{67388B5A-DB77-412F-9D47-1F943E7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24500"/>
            <a:ext cx="6286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3B"/>
          </a:solidFill>
          <a:ln xmlns:a="http://schemas.openxmlformats.org/drawingml/2006/main" w="14288">
            <a:solidFill>
              <a:srgbClr val="B66B13"/>
            </a:solidFill>
            <a:prstDash val="solid"/>
          </a:ln>
        </p:spPr>
      </p:sp>
      <p:sp>
        <p:nvSpPr>
          <p:cNvPr id="48" name="nuclease-domain-label">
            <a:extLst xmlns:a="http://schemas.openxmlformats.org/drawingml/2006/main">
              <a:ext uri="{FF2B5EF4-FFF2-40B4-BE49-F238E27FC236}">
                <a16:creationId xmlns:a16="http://schemas.microsoft.com/office/drawing/2014/main" id="{97F47C1F-9EEE-4984-90FD-32C7A168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816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Killing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49" name="dna-left">
            <a:extLst xmlns:a="http://schemas.openxmlformats.org/drawingml/2006/main">
              <a:ext uri="{FF2B5EF4-FFF2-40B4-BE49-F238E27FC236}">
                <a16:creationId xmlns:a16="http://schemas.microsoft.com/office/drawing/2014/main" id="{D362A8A7-18A4-4E91-BADD-992DD1C7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76900"/>
            <a:ext cx="400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73C7"/>
          </a:solidFill>
          <a:ln xmlns:a="http://schemas.openxmlformats.org/drawingml/2006/main" w="9525">
            <a:solidFill>
              <a:srgbClr val="5A4291"/>
            </a:solidFill>
            <a:prstDash val="solid"/>
          </a:ln>
        </p:spPr>
      </p:sp>
      <p:sp>
        <p:nvSpPr>
          <p:cNvPr id="50" name="dna-right">
            <a:extLst xmlns:a="http://schemas.openxmlformats.org/drawingml/2006/main">
              <a:ext uri="{FF2B5EF4-FFF2-40B4-BE49-F238E27FC236}">
                <a16:creationId xmlns:a16="http://schemas.microsoft.com/office/drawing/2014/main" id="{08DC9414-2B1B-4958-A489-FB5C35C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76900"/>
            <a:ext cx="400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73C7"/>
          </a:solidFill>
          <a:ln xmlns:a="http://schemas.openxmlformats.org/drawingml/2006/main" w="9525">
            <a:solidFill>
              <a:srgbClr val="5A4291"/>
            </a:solidFill>
            <a:prstDash val="solid"/>
          </a:ln>
        </p:spPr>
      </p:sp>
      <p:sp>
        <p:nvSpPr>
          <p:cNvPr id="51" name="cleavage-mark">
            <a:extLst xmlns:a="http://schemas.openxmlformats.org/drawingml/2006/main">
              <a:ext uri="{FF2B5EF4-FFF2-40B4-BE49-F238E27FC236}">
                <a16:creationId xmlns:a16="http://schemas.microsoft.com/office/drawing/2014/main" id="{11018863-8065-415C-B422-9AC88EC1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81650"/>
            <a:ext cx="2286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9525">
            <a:solidFill>
              <a:srgbClr val="A52F2F"/>
            </a:solidFill>
            <a:prstDash val="solid"/>
          </a:ln>
        </p:spPr>
      </p:sp>
      <p:sp>
        <p:nvSpPr>
          <p:cNvPr id="52" name="cleavage-mark-label">
            <a:extLst xmlns:a="http://schemas.openxmlformats.org/drawingml/2006/main">
              <a:ext uri="{FF2B5EF4-FFF2-40B4-BE49-F238E27FC236}">
                <a16:creationId xmlns:a16="http://schemas.microsoft.com/office/drawing/2014/main" id="{2558DC34-D347-4507-BE82-B8BFDE30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721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53" name="nuclease-label">
            <a:extLst xmlns:a="http://schemas.openxmlformats.org/drawingml/2006/main">
              <a:ext uri="{FF2B5EF4-FFF2-40B4-BE49-F238E27FC236}">
                <a16:creationId xmlns:a16="http://schemas.microsoft.com/office/drawing/2014/main" id="{30B480A1-7134-4AC0-9F42-159B4F11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81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DNA or RNA cleavage</a:t>
            </a:r>
          </a:p>
        </p:txBody>
      </p:sp>
    </p:spTree>
    <p:extLst>
      <p:ext uri="{BB962C8B-B14F-4D97-AF65-F5344CB8AC3E}">
        <p14:creationId xmlns:p14="http://schemas.microsoft.com/office/powerpoint/2010/main" val="1765617845"/>
      </p:ext>
    </p:extLst>
  </p:cSld>
</p:sld>
</file>

<file path=ppt/theme/theme1.xml><?xml version="1.0" encoding="utf-8"?>
<a:theme xmlns:a="http://schemas.openxmlformats.org/drawingml/2006/main" name="Sapiente">
  <a:themeElements>
    <a:clrScheme name="Sapient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pien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2026-09-02T19:17:54.2890000Z</dcterms:created>
  <dcterms:modified xsi:type="dcterms:W3CDTF">2026-09-02T19:17:54.2890000Z</dcterms:modified>
</coreProperties>
</file>