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e1e7ebb5a6420c" /><Relationship Type="http://schemas.openxmlformats.org/officeDocument/2006/relationships/extended-properties" Target="/docProps/app.xml" Id="R9907d1a7671b4c86" /><Relationship Type="http://schemas.openxmlformats.org/officeDocument/2006/relationships/officeDocument" Target="/ppt/presentation.xml" Id="R76b2b96e30de42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b906c95c0c4714"/>
  </p:sldMasterIdLst>
  <p:notesMasterIdLst>
    <p:notesMasterId xmlns:r="http://schemas.openxmlformats.org/officeDocument/2006/relationships" r:id="R7011e2618b4e4f5f"/>
  </p:notesMasterIdLst>
  <p:sldIdLst>
    <p:sldId xmlns:r="http://schemas.openxmlformats.org/officeDocument/2006/relationships" id="256" r:id="R8a6a530aecc54e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12d4e2187d4b3c" /><Relationship Type="http://schemas.openxmlformats.org/officeDocument/2006/relationships/slideMaster" Target="/ppt/slideMasters/slideMaster1.xml" Id="Ra9b906c95c0c4714" /><Relationship Type="http://schemas.openxmlformats.org/officeDocument/2006/relationships/notesMaster" Target="/ppt/notesMasters/notesMaster1.xml" Id="R7011e2618b4e4f5f" /><Relationship Type="http://schemas.openxmlformats.org/officeDocument/2006/relationships/presProps" Target="/ppt/presProps.xml" Id="R19c5897944cd4f24" /><Relationship Type="http://schemas.openxmlformats.org/officeDocument/2006/relationships/tableStyles" Target="/ppt/tableStyles.xml" Id="Rf0e20b56c73147d1" /><Relationship Type="http://schemas.openxmlformats.org/officeDocument/2006/relationships/slide" Target="/ppt/slides/slide1.xml" Id="R8a6a530aecc54e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96fdcd1eef4a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apiente">
  <a:themeElements>
    <a:clrScheme name="Sapient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apient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2dd03fb120475f" /><Relationship Type="http://schemas.openxmlformats.org/officeDocument/2006/relationships/notesMaster" Target="/ppt/notesMasters/notesMaster1.xml" Id="R820a4ca3fb014c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https://doi.org/10.3389/fmicb.2019.00646</a:t>
            </a:r>
          </a:p>
          <a:p xmlns:a="http://schemas.openxmlformats.org/drawingml/2006/main">
            <a:r>
              <a:t>https://doi.org/10.1128/MMBR.00036-06</a:t>
            </a:r>
          </a:p>
          <a:p xmlns:a="http://schemas.openxmlformats.org/drawingml/2006/main">
            <a:r>
              <a:t>https://doi.org/10.1128/mBio.03230-19</a:t>
            </a:r>
          </a:p>
          <a:p xmlns:a="http://schemas.openxmlformats.org/drawingml/2006/main">
            <a:r>
              <a:t>https://doi.org/10.1074/jbc.RA120.013508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f3623fd16445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3d0acda5df49cf" /><Relationship Type="http://schemas.openxmlformats.org/officeDocument/2006/relationships/slideLayout" Target="/ppt/slideLayouts/slideLayout1.xml" Id="Rdfe208f1c66143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e208f1c66143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Sapiente">
  <a:themeElements>
    <a:clrScheme name="Sapient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apient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fb1a3a9884a74" /><Relationship Type="http://schemas.openxmlformats.org/officeDocument/2006/relationships/notesSlide" Target="/ppt/notesSlides/notesSlide1.xml" Id="Rfd7feb565f6744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title">
            <a:extLst xmlns:a="http://schemas.openxmlformats.org/drawingml/2006/main">
              <a:ext uri="{FF2B5EF4-FFF2-40B4-BE49-F238E27FC236}">
                <a16:creationId xmlns:a16="http://schemas.microsoft.com/office/drawing/2014/main" id="{2C9FD162-E703-4DE0-9BDB-360650E3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"/>
            <a:ext cx="11125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Protein bacteriocin killing mechanism</a:t>
            </a:r>
          </a:p>
        </p:txBody>
      </p:sp>
      <p:sp>
        <p:nvSpPr>
          <p:cNvPr id="2" name="outside-label">
            <a:extLst xmlns:a="http://schemas.openxmlformats.org/drawingml/2006/main">
              <a:ext uri="{FF2B5EF4-FFF2-40B4-BE49-F238E27FC236}">
                <a16:creationId xmlns:a16="http://schemas.microsoft.com/office/drawing/2014/main" id="{523D3BDF-1448-4FB0-AB1A-90098C7A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91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174"/>
                </a:solidFill>
              </a:defRPr>
            </a:pPr>
            <a:r>
              <a:rPr sz="1350" b="1">
                <a:solidFill>
                  <a:srgbClr val="526174"/>
                </a:solidFill>
              </a:rPr>
              <a:t>Outside target cell</a:t>
            </a:r>
          </a:p>
        </p:txBody>
      </p:sp>
      <p:sp>
        <p:nvSpPr>
          <p:cNvPr id="3" name="periplasm-label">
            <a:extLst xmlns:a="http://schemas.openxmlformats.org/drawingml/2006/main">
              <a:ext uri="{FF2B5EF4-FFF2-40B4-BE49-F238E27FC236}">
                <a16:creationId xmlns:a16="http://schemas.microsoft.com/office/drawing/2014/main" id="{BC31415B-2E2B-4201-836A-DB1A2A29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718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174"/>
                </a:solidFill>
              </a:defRPr>
            </a:pPr>
            <a:r>
              <a:rPr sz="1350" b="1">
                <a:solidFill>
                  <a:srgbClr val="526174"/>
                </a:solidFill>
              </a:rPr>
              <a:t>Periplasm</a:t>
            </a:r>
          </a:p>
        </p:txBody>
      </p:sp>
      <p:sp>
        <p:nvSpPr>
          <p:cNvPr id="4" name="cytoplasm-label">
            <a:extLst xmlns:a="http://schemas.openxmlformats.org/drawingml/2006/main">
              <a:ext uri="{FF2B5EF4-FFF2-40B4-BE49-F238E27FC236}">
                <a16:creationId xmlns:a16="http://schemas.microsoft.com/office/drawing/2014/main" id="{5C722BF2-1429-4B73-8462-6C08A8F2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174"/>
                </a:solidFill>
              </a:defRPr>
            </a:pPr>
            <a:r>
              <a:rPr sz="1350" b="1">
                <a:solidFill>
                  <a:srgbClr val="526174"/>
                </a:solidFill>
              </a:rPr>
              <a:t>Cytoplasm</a:t>
            </a:r>
          </a:p>
        </p:txBody>
      </p:sp>
      <p:sp>
        <p:nvSpPr>
          <p:cNvPr id="5" name="outer-membrane-top">
            <a:extLst xmlns:a="http://schemas.openxmlformats.org/drawingml/2006/main">
              <a:ext uri="{FF2B5EF4-FFF2-40B4-BE49-F238E27FC236}">
                <a16:creationId xmlns:a16="http://schemas.microsoft.com/office/drawing/2014/main" id="{B3AA82D8-A887-4333-BE1F-79652E91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1125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A6D8"/>
          </a:solidFill>
          <a:ln xmlns:a="http://schemas.openxmlformats.org/drawingml/2006/main" w="7620">
            <a:solidFill>
              <a:srgbClr val="2D6E9C"/>
            </a:solidFill>
            <a:prstDash val="solid"/>
          </a:ln>
        </p:spPr>
      </p:sp>
      <p:sp>
        <p:nvSpPr>
          <p:cNvPr id="6" name="outer-membrane-bottom">
            <a:extLst xmlns:a="http://schemas.openxmlformats.org/drawingml/2006/main">
              <a:ext uri="{FF2B5EF4-FFF2-40B4-BE49-F238E27FC236}">
                <a16:creationId xmlns:a16="http://schemas.microsoft.com/office/drawing/2014/main" id="{16CFEB47-8848-47F6-906A-F247E258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28950"/>
            <a:ext cx="11125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A6D8"/>
          </a:solidFill>
          <a:ln xmlns:a="http://schemas.openxmlformats.org/drawingml/2006/main" w="7620">
            <a:solidFill>
              <a:srgbClr val="2D6E9C"/>
            </a:solidFill>
            <a:prstDash val="solid"/>
          </a:ln>
        </p:spPr>
      </p:sp>
      <p:sp>
        <p:nvSpPr>
          <p:cNvPr id="7" name="outer-membrane-label">
            <a:extLst xmlns:a="http://schemas.openxmlformats.org/drawingml/2006/main">
              <a:ext uri="{FF2B5EF4-FFF2-40B4-BE49-F238E27FC236}">
                <a16:creationId xmlns:a16="http://schemas.microsoft.com/office/drawing/2014/main" id="{76F7DFC9-E9C6-4960-AB65-539003F9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419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6E9C"/>
                </a:solidFill>
              </a:defRPr>
            </a:pPr>
            <a:r>
              <a:rPr sz="1200" b="1">
                <a:solidFill>
                  <a:srgbClr val="2D6E9C"/>
                </a:solidFill>
              </a:rPr>
              <a:t>Outer membrane</a:t>
            </a:r>
          </a:p>
        </p:txBody>
      </p:sp>
      <p:sp>
        <p:nvSpPr>
          <p:cNvPr id="8" name="inner-membrane-top">
            <a:extLst xmlns:a="http://schemas.openxmlformats.org/drawingml/2006/main">
              <a:ext uri="{FF2B5EF4-FFF2-40B4-BE49-F238E27FC236}">
                <a16:creationId xmlns:a16="http://schemas.microsoft.com/office/drawing/2014/main" id="{687E23C6-D06A-433A-8AFF-831E1377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0"/>
            <a:ext cx="11125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B7A5"/>
          </a:solidFill>
          <a:ln xmlns:a="http://schemas.openxmlformats.org/drawingml/2006/main" w="7620">
            <a:solidFill>
              <a:srgbClr val="297A6C"/>
            </a:solidFill>
            <a:prstDash val="solid"/>
          </a:ln>
        </p:spPr>
      </p:sp>
      <p:sp>
        <p:nvSpPr>
          <p:cNvPr id="9" name="inner-membrane-bottom">
            <a:extLst xmlns:a="http://schemas.openxmlformats.org/drawingml/2006/main">
              <a:ext uri="{FF2B5EF4-FFF2-40B4-BE49-F238E27FC236}">
                <a16:creationId xmlns:a16="http://schemas.microsoft.com/office/drawing/2014/main" id="{FB7C0B0F-057A-49B1-89BB-14E5212F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76800"/>
            <a:ext cx="11125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B7A5"/>
          </a:solidFill>
          <a:ln xmlns:a="http://schemas.openxmlformats.org/drawingml/2006/main" w="7620">
            <a:solidFill>
              <a:srgbClr val="297A6C"/>
            </a:solidFill>
            <a:prstDash val="solid"/>
          </a:ln>
        </p:spPr>
      </p:sp>
      <p:sp>
        <p:nvSpPr>
          <p:cNvPr id="10" name="inner-membrane-label">
            <a:extLst xmlns:a="http://schemas.openxmlformats.org/drawingml/2006/main">
              <a:ext uri="{FF2B5EF4-FFF2-40B4-BE49-F238E27FC236}">
                <a16:creationId xmlns:a16="http://schemas.microsoft.com/office/drawing/2014/main" id="{571A5B4E-BE11-4F57-8179-73BAEEC8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2481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97A6C"/>
                </a:solidFill>
              </a:defRPr>
            </a:pPr>
            <a:r>
              <a:rPr sz="1200" b="1">
                <a:solidFill>
                  <a:srgbClr val="297A6C"/>
                </a:solidFill>
              </a:rPr>
              <a:t>Inner membrane</a:t>
            </a:r>
          </a:p>
        </p:txBody>
      </p:sp>
      <p:sp>
        <p:nvSpPr>
          <p:cNvPr id="11" name="binding-arrow">
            <a:extLst xmlns:a="http://schemas.openxmlformats.org/drawingml/2006/main">
              <a:ext uri="{FF2B5EF4-FFF2-40B4-BE49-F238E27FC236}">
                <a16:creationId xmlns:a16="http://schemas.microsoft.com/office/drawing/2014/main" id="{9AC3DACF-3AF7-458C-A4E8-596C1AD6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562100"/>
            <a:ext cx="135255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5DEE8"/>
          </a:solidFill>
          <a:ln xmlns:a="http://schemas.openxmlformats.org/drawingml/2006/main" w="11430">
            <a:solidFill>
              <a:srgbClr val="526174"/>
            </a:solidFill>
            <a:prstDash val="solid"/>
          </a:ln>
        </p:spPr>
      </p:sp>
      <p:sp>
        <p:nvSpPr>
          <p:cNvPr id="12" name="import-arrow">
            <a:extLst xmlns:a="http://schemas.openxmlformats.org/drawingml/2006/main">
              <a:ext uri="{FF2B5EF4-FFF2-40B4-BE49-F238E27FC236}">
                <a16:creationId xmlns:a16="http://schemas.microsoft.com/office/drawing/2014/main" id="{EFC436DF-6F77-4D4C-BA6C-434EEEE6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219450"/>
            <a:ext cx="666750" cy="11906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5DEE8"/>
          </a:solidFill>
          <a:ln xmlns:a="http://schemas.openxmlformats.org/drawingml/2006/main" w="11430">
            <a:solidFill>
              <a:srgbClr val="526174"/>
            </a:solidFill>
            <a:prstDash val="solid"/>
          </a:ln>
        </p:spPr>
      </p:sp>
      <p:sp>
        <p:nvSpPr>
          <p:cNvPr id="13" name="delivery-arrow">
            <a:extLst xmlns:a="http://schemas.openxmlformats.org/drawingml/2006/main">
              <a:ext uri="{FF2B5EF4-FFF2-40B4-BE49-F238E27FC236}">
                <a16:creationId xmlns:a16="http://schemas.microsoft.com/office/drawing/2014/main" id="{7440E304-2439-4C0B-8DAD-851F32B2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486400"/>
            <a:ext cx="10858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5DEE8"/>
          </a:solidFill>
          <a:ln xmlns:a="http://schemas.openxmlformats.org/drawingml/2006/main" w="11430">
            <a:solidFill>
              <a:srgbClr val="526174"/>
            </a:solidFill>
            <a:prstDash val="solid"/>
          </a:ln>
        </p:spPr>
      </p:sp>
      <p:sp>
        <p:nvSpPr>
          <p:cNvPr id="14" name="effects-arrow">
            <a:extLst xmlns:a="http://schemas.openxmlformats.org/drawingml/2006/main">
              <a:ext uri="{FF2B5EF4-FFF2-40B4-BE49-F238E27FC236}">
                <a16:creationId xmlns:a16="http://schemas.microsoft.com/office/drawing/2014/main" id="{E78820FD-0597-42C8-B902-0F3CE67A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505450"/>
            <a:ext cx="6858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6C36B"/>
          </a:solidFill>
          <a:ln xmlns:a="http://schemas.openxmlformats.org/drawingml/2006/main" w="10478">
            <a:solidFill>
              <a:srgbClr val="B66B13"/>
            </a:solidFill>
            <a:prstDash val="solid"/>
          </a:ln>
        </p:spPr>
      </p:sp>
      <p:sp>
        <p:nvSpPr>
          <p:cNvPr id="15" name="translocation-domain">
            <a:extLst xmlns:a="http://schemas.openxmlformats.org/drawingml/2006/main">
              <a:ext uri="{FF2B5EF4-FFF2-40B4-BE49-F238E27FC236}">
                <a16:creationId xmlns:a16="http://schemas.microsoft.com/office/drawing/2014/main" id="{EF576B23-4A47-42BA-9465-85428F92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876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8D73C7"/>
          </a:solidFill>
          <a:ln xmlns:a="http://schemas.openxmlformats.org/drawingml/2006/main" w="14288">
            <a:solidFill>
              <a:srgbClr val="5A4291"/>
            </a:solidFill>
            <a:prstDash val="solid"/>
          </a:ln>
        </p:spPr>
      </p:sp>
      <p:sp>
        <p:nvSpPr>
          <p:cNvPr id="16" name="binding-domain">
            <a:extLst xmlns:a="http://schemas.openxmlformats.org/drawingml/2006/main">
              <a:ext uri="{FF2B5EF4-FFF2-40B4-BE49-F238E27FC236}">
                <a16:creationId xmlns:a16="http://schemas.microsoft.com/office/drawing/2014/main" id="{F2C2C7A0-AC7B-4668-B019-5F241345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485900"/>
            <a:ext cx="876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4D97CA"/>
          </a:solidFill>
          <a:ln xmlns:a="http://schemas.openxmlformats.org/drawingml/2006/main" w="14288">
            <a:solidFill>
              <a:srgbClr val="2D6E9C"/>
            </a:solidFill>
            <a:prstDash val="solid"/>
          </a:ln>
        </p:spPr>
      </p:sp>
      <p:sp>
        <p:nvSpPr>
          <p:cNvPr id="17" name="killing-domain">
            <a:extLst xmlns:a="http://schemas.openxmlformats.org/drawingml/2006/main">
              <a:ext uri="{FF2B5EF4-FFF2-40B4-BE49-F238E27FC236}">
                <a16:creationId xmlns:a16="http://schemas.microsoft.com/office/drawing/2014/main" id="{919A86BD-4AB5-47E2-B3D1-5159E87C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85900"/>
            <a:ext cx="781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9B3B"/>
          </a:solidFill>
          <a:ln xmlns:a="http://schemas.openxmlformats.org/drawingml/2006/main" w="14288">
            <a:solidFill>
              <a:srgbClr val="B66B13"/>
            </a:solidFill>
            <a:prstDash val="solid"/>
          </a:ln>
        </p:spPr>
      </p:sp>
      <p:sp>
        <p:nvSpPr>
          <p:cNvPr id="18" name="translocation-domain-label">
            <a:extLst xmlns:a="http://schemas.openxmlformats.org/drawingml/2006/main">
              <a:ext uri="{FF2B5EF4-FFF2-40B4-BE49-F238E27FC236}">
                <a16:creationId xmlns:a16="http://schemas.microsoft.com/office/drawing/2014/main" id="{FE68FBFC-F481-43DA-BF4F-DFF6F770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19250"/>
            <a:ext cx="80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Import</a:t>
            </a:r>
          </a:p>
        </p:txBody>
      </p:sp>
      <p:sp>
        <p:nvSpPr>
          <p:cNvPr id="19" name="binding-domain-label">
            <a:extLst xmlns:a="http://schemas.openxmlformats.org/drawingml/2006/main">
              <a:ext uri="{FF2B5EF4-FFF2-40B4-BE49-F238E27FC236}">
                <a16:creationId xmlns:a16="http://schemas.microsoft.com/office/drawing/2014/main" id="{58F32303-E05B-4902-8EB2-EDA68DAF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619250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Binding</a:t>
            </a:r>
          </a:p>
        </p:txBody>
      </p:sp>
      <p:sp>
        <p:nvSpPr>
          <p:cNvPr id="20" name="killing-domain-label">
            <a:extLst xmlns:a="http://schemas.openxmlformats.org/drawingml/2006/main">
              <a:ext uri="{FF2B5EF4-FFF2-40B4-BE49-F238E27FC236}">
                <a16:creationId xmlns:a16="http://schemas.microsoft.com/office/drawing/2014/main" id="{B9AE6902-FB8B-47C7-8F58-52191E55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619250"/>
            <a:ext cx="742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Killing</a:t>
            </a:r>
          </a:p>
        </p:txBody>
      </p:sp>
      <p:sp>
        <p:nvSpPr>
          <p:cNvPr id="21" name="bacteriocin-label">
            <a:extLst xmlns:a="http://schemas.openxmlformats.org/drawingml/2006/main">
              <a:ext uri="{FF2B5EF4-FFF2-40B4-BE49-F238E27FC236}">
                <a16:creationId xmlns:a16="http://schemas.microsoft.com/office/drawing/2014/main" id="{65E2FC69-73B9-4F99-AEC6-1A67DE96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62050"/>
            <a:ext cx="245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Protein bacteriocin</a:t>
            </a:r>
          </a:p>
        </p:txBody>
      </p:sp>
      <p:sp>
        <p:nvSpPr>
          <p:cNvPr id="22" name="receptor">
            <a:extLst xmlns:a="http://schemas.openxmlformats.org/drawingml/2006/main">
              <a:ext uri="{FF2B5EF4-FFF2-40B4-BE49-F238E27FC236}">
                <a16:creationId xmlns:a16="http://schemas.microsoft.com/office/drawing/2014/main" id="{92BD6E8F-5927-4518-B343-56B134EE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95550"/>
            <a:ext cx="10096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3C7FB1"/>
          </a:solidFill>
          <a:ln xmlns:a="http://schemas.openxmlformats.org/drawingml/2006/main" w="17145">
            <a:solidFill>
              <a:srgbClr val="1F5B84"/>
            </a:solidFill>
            <a:prstDash val="solid"/>
          </a:ln>
        </p:spPr>
      </p:sp>
      <p:sp>
        <p:nvSpPr>
          <p:cNvPr id="23" name="receptor-channel">
            <a:extLst xmlns:a="http://schemas.openxmlformats.org/drawingml/2006/main">
              <a:ext uri="{FF2B5EF4-FFF2-40B4-BE49-F238E27FC236}">
                <a16:creationId xmlns:a16="http://schemas.microsoft.com/office/drawing/2014/main" id="{4D192230-BA7B-4B27-AFE8-77E93CE2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590800"/>
            <a:ext cx="323850" cy="7239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F5B84"/>
            </a:solidFill>
            <a:prstDash val="solid"/>
          </a:ln>
        </p:spPr>
      </p:sp>
      <p:sp>
        <p:nvSpPr>
          <p:cNvPr id="24" name="receptor-label">
            <a:extLst xmlns:a="http://schemas.openxmlformats.org/drawingml/2006/main">
              <a:ext uri="{FF2B5EF4-FFF2-40B4-BE49-F238E27FC236}">
                <a16:creationId xmlns:a16="http://schemas.microsoft.com/office/drawing/2014/main" id="{A1FFA12F-99BC-4F10-AC5A-E42E8106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52650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5B84"/>
                </a:solidFill>
              </a:defRPr>
            </a:pPr>
            <a:r>
              <a:rPr sz="1425" b="1">
                <a:solidFill>
                  <a:srgbClr val="1F5B84"/>
                </a:solidFill>
              </a:rPr>
              <a:t>Receptor</a:t>
            </a:r>
          </a:p>
        </p:txBody>
      </p:sp>
      <p:sp>
        <p:nvSpPr>
          <p:cNvPr id="25" name="unfolded-import">
            <a:extLst xmlns:a="http://schemas.openxmlformats.org/drawingml/2006/main">
              <a:ext uri="{FF2B5EF4-FFF2-40B4-BE49-F238E27FC236}">
                <a16:creationId xmlns:a16="http://schemas.microsoft.com/office/drawing/2014/main" id="{76125D9A-55B0-400C-ADF8-72588CDB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390900"/>
            <a:ext cx="285750" cy="8953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8D73C7"/>
          </a:solidFill>
          <a:ln xmlns:a="http://schemas.openxmlformats.org/drawingml/2006/main" w="11430">
            <a:solidFill>
              <a:srgbClr val="5A4291"/>
            </a:solidFill>
            <a:prstDash val="solid"/>
          </a:ln>
        </p:spPr>
      </p:sp>
      <p:sp>
        <p:nvSpPr>
          <p:cNvPr id="26" name="translocation-label">
            <a:extLst xmlns:a="http://schemas.openxmlformats.org/drawingml/2006/main">
              <a:ext uri="{FF2B5EF4-FFF2-40B4-BE49-F238E27FC236}">
                <a16:creationId xmlns:a16="http://schemas.microsoft.com/office/drawing/2014/main" id="{46D9E67D-CF0E-4623-B827-9F8CE1BB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4766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A4291"/>
                </a:solidFill>
              </a:defRPr>
            </a:pPr>
            <a:r>
              <a:rPr sz="1200" b="1">
                <a:solidFill>
                  <a:srgbClr val="5A4291"/>
                </a:solidFill>
              </a:rPr>
              <a:t>Flexible import region</a:t>
            </a:r>
          </a:p>
        </p:txBody>
      </p:sp>
      <p:sp>
        <p:nvSpPr>
          <p:cNvPr id="27" name="energy">
            <a:extLst xmlns:a="http://schemas.openxmlformats.org/drawingml/2006/main">
              <a:ext uri="{FF2B5EF4-FFF2-40B4-BE49-F238E27FC236}">
                <a16:creationId xmlns:a16="http://schemas.microsoft.com/office/drawing/2014/main" id="{A80443BA-556A-4541-9421-3FBC373C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19525"/>
            <a:ext cx="476250" cy="685800"/>
          </a:xfrm>
          <a:prstGeom xmlns:a="http://schemas.openxmlformats.org/drawingml/2006/main" prst="lightningBolt">
            <a:avLst/>
          </a:prstGeom>
          <a:solidFill xmlns:a="http://schemas.openxmlformats.org/drawingml/2006/main">
            <a:srgbClr val="F3C64B"/>
          </a:solidFill>
          <a:ln xmlns:a="http://schemas.openxmlformats.org/drawingml/2006/main" w="11430">
            <a:solidFill>
              <a:srgbClr val="A87900"/>
            </a:solidFill>
            <a:prstDash val="solid"/>
          </a:ln>
        </p:spPr>
      </p:sp>
      <p:sp>
        <p:nvSpPr>
          <p:cNvPr id="28" name="ton-tol">
            <a:extLst xmlns:a="http://schemas.openxmlformats.org/drawingml/2006/main">
              <a:ext uri="{FF2B5EF4-FFF2-40B4-BE49-F238E27FC236}">
                <a16:creationId xmlns:a16="http://schemas.microsoft.com/office/drawing/2014/main" id="{BBF50C6B-6845-4287-A63E-BC5D86CB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52850"/>
            <a:ext cx="10668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DDF6"/>
          </a:solidFill>
          <a:ln xmlns:a="http://schemas.openxmlformats.org/drawingml/2006/main" w="13335">
            <a:solidFill>
              <a:srgbClr val="7957A5"/>
            </a:solidFill>
            <a:prstDash val="solid"/>
          </a:ln>
        </p:spPr>
      </p:sp>
      <p:sp>
        <p:nvSpPr>
          <p:cNvPr id="29" name="ton-tol-label">
            <a:extLst xmlns:a="http://schemas.openxmlformats.org/drawingml/2006/main">
              <a:ext uri="{FF2B5EF4-FFF2-40B4-BE49-F238E27FC236}">
                <a16:creationId xmlns:a16="http://schemas.microsoft.com/office/drawing/2014/main" id="{8CF13245-B5AE-4720-9A70-E069140F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57625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A4291"/>
                </a:solidFill>
              </a:defRPr>
            </a:pPr>
            <a:r>
              <a:rPr sz="1275" b="1">
                <a:solidFill>
                  <a:srgbClr val="5A4291"/>
                </a:solidFill>
              </a:rPr>
              <a:t>TonB or TolA</a:t>
            </a:r>
          </a:p>
        </p:txBody>
      </p:sp>
      <p:sp>
        <p:nvSpPr>
          <p:cNvPr id="30" name="energy-label">
            <a:extLst xmlns:a="http://schemas.openxmlformats.org/drawingml/2006/main">
              <a:ext uri="{FF2B5EF4-FFF2-40B4-BE49-F238E27FC236}">
                <a16:creationId xmlns:a16="http://schemas.microsoft.com/office/drawing/2014/main" id="{4A03A5A9-D7F8-456A-B343-B002F2A9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029075"/>
            <a:ext cx="1314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26174"/>
                </a:solidFill>
              </a:defRPr>
            </a:pPr>
            <a:r>
              <a:rPr sz="1200" b="1">
                <a:solidFill>
                  <a:srgbClr val="526174"/>
                </a:solidFill>
              </a:rPr>
              <a:t>Energy-linked</a:t>
            </a:r>
          </a:p>
          <a:p xmlns:a="http://schemas.openxmlformats.org/drawingml/2006/main">
            <a:pPr algn="ctr">
              <a:defRPr sz="1200" b="1">
                <a:solidFill>
                  <a:srgbClr val="526174"/>
                </a:solidFill>
              </a:defRPr>
            </a:pPr>
            <a:r>
              <a:rPr sz="1200" b="1">
                <a:solidFill>
                  <a:srgbClr val="526174"/>
                </a:solidFill>
              </a:rPr>
              <a:t>import</a:t>
            </a:r>
          </a:p>
        </p:txBody>
      </p:sp>
      <p:sp>
        <p:nvSpPr>
          <p:cNvPr id="31" name="delivered-domain">
            <a:extLst xmlns:a="http://schemas.openxmlformats.org/drawingml/2006/main">
              <a:ext uri="{FF2B5EF4-FFF2-40B4-BE49-F238E27FC236}">
                <a16:creationId xmlns:a16="http://schemas.microsoft.com/office/drawing/2014/main" id="{ED938D50-6EE3-427C-902E-96A31928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391150"/>
            <a:ext cx="64770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9B3B"/>
          </a:solidFill>
          <a:ln xmlns:a="http://schemas.openxmlformats.org/drawingml/2006/main" w="14288">
            <a:solidFill>
              <a:srgbClr val="B66B13"/>
            </a:solidFill>
            <a:prstDash val="solid"/>
          </a:ln>
        </p:spPr>
      </p:sp>
      <p:sp>
        <p:nvSpPr>
          <p:cNvPr id="32" name="delivered-domain-label">
            <a:extLst xmlns:a="http://schemas.openxmlformats.org/drawingml/2006/main">
              <a:ext uri="{FF2B5EF4-FFF2-40B4-BE49-F238E27FC236}">
                <a16:creationId xmlns:a16="http://schemas.microsoft.com/office/drawing/2014/main" id="{4BB19CF1-0D3B-4D2B-81B3-50438D37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44830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Killing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33" name="effects-label">
            <a:extLst xmlns:a="http://schemas.openxmlformats.org/drawingml/2006/main">
              <a:ext uri="{FF2B5EF4-FFF2-40B4-BE49-F238E27FC236}">
                <a16:creationId xmlns:a16="http://schemas.microsoft.com/office/drawing/2014/main" id="{C8B72074-D679-4C90-8A16-6706A62C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048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26174"/>
                </a:solidFill>
              </a:defRPr>
            </a:pPr>
            <a:r>
              <a:rPr sz="1350" b="1">
                <a:solidFill>
                  <a:srgbClr val="526174"/>
                </a:solidFill>
              </a:rPr>
              <a:t>Possible toxic effects</a:t>
            </a:r>
          </a:p>
        </p:txBody>
      </p:sp>
      <p:sp>
        <p:nvSpPr>
          <p:cNvPr id="34" name="pore-membrane-left">
            <a:extLst xmlns:a="http://schemas.openxmlformats.org/drawingml/2006/main">
              <a:ext uri="{FF2B5EF4-FFF2-40B4-BE49-F238E27FC236}">
                <a16:creationId xmlns:a16="http://schemas.microsoft.com/office/drawing/2014/main" id="{966BCC08-9615-40AF-8598-D8CE73B2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543550"/>
            <a:ext cx="419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B7A5"/>
          </a:solidFill>
          <a:ln xmlns:a="http://schemas.openxmlformats.org/drawingml/2006/main" w="7620">
            <a:solidFill>
              <a:srgbClr val="297A6C"/>
            </a:solidFill>
            <a:prstDash val="solid"/>
          </a:ln>
        </p:spPr>
      </p:sp>
      <p:sp>
        <p:nvSpPr>
          <p:cNvPr id="35" name="pore-membrane-right">
            <a:extLst xmlns:a="http://schemas.openxmlformats.org/drawingml/2006/main">
              <a:ext uri="{FF2B5EF4-FFF2-40B4-BE49-F238E27FC236}">
                <a16:creationId xmlns:a16="http://schemas.microsoft.com/office/drawing/2014/main" id="{8BD0AB99-F045-47BE-8185-C4C387B0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543550"/>
            <a:ext cx="4191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B7A5"/>
          </a:solidFill>
          <a:ln xmlns:a="http://schemas.openxmlformats.org/drawingml/2006/main" w="7620">
            <a:solidFill>
              <a:srgbClr val="297A6C"/>
            </a:solidFill>
            <a:prstDash val="solid"/>
          </a:ln>
        </p:spPr>
      </p:sp>
      <p:sp>
        <p:nvSpPr>
          <p:cNvPr id="36" name="pore">
            <a:extLst xmlns:a="http://schemas.openxmlformats.org/drawingml/2006/main">
              <a:ext uri="{FF2B5EF4-FFF2-40B4-BE49-F238E27FC236}">
                <a16:creationId xmlns:a16="http://schemas.microsoft.com/office/drawing/2014/main" id="{5409AF13-CE74-4D6F-A446-B311731F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391150"/>
            <a:ext cx="266700" cy="4572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94B4B"/>
          </a:solidFill>
          <a:ln xmlns:a="http://schemas.openxmlformats.org/drawingml/2006/main" w="9525">
            <a:solidFill>
              <a:srgbClr val="A52F2F"/>
            </a:solidFill>
            <a:prstDash val="solid"/>
          </a:ln>
        </p:spPr>
      </p:sp>
      <p:sp>
        <p:nvSpPr>
          <p:cNvPr id="37" name="pore-label">
            <a:extLst xmlns:a="http://schemas.openxmlformats.org/drawingml/2006/main">
              <a:ext uri="{FF2B5EF4-FFF2-40B4-BE49-F238E27FC236}">
                <a16:creationId xmlns:a16="http://schemas.microsoft.com/office/drawing/2014/main" id="{2E13AE03-E912-453B-A966-1E9C9D27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90550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Pore</a:t>
            </a:r>
          </a:p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formation</a:t>
            </a:r>
          </a:p>
        </p:txBody>
      </p:sp>
      <p:sp>
        <p:nvSpPr>
          <p:cNvPr id="38" name="dna-left">
            <a:extLst xmlns:a="http://schemas.openxmlformats.org/drawingml/2006/main">
              <a:ext uri="{FF2B5EF4-FFF2-40B4-BE49-F238E27FC236}">
                <a16:creationId xmlns:a16="http://schemas.microsoft.com/office/drawing/2014/main" id="{8C40F5E4-1B65-46F5-BBC7-76107894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467350"/>
            <a:ext cx="36195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73C7"/>
          </a:solidFill>
          <a:ln xmlns:a="http://schemas.openxmlformats.org/drawingml/2006/main" w="9525">
            <a:solidFill>
              <a:srgbClr val="5A4291"/>
            </a:solidFill>
            <a:prstDash val="solid"/>
          </a:ln>
        </p:spPr>
      </p:sp>
      <p:sp>
        <p:nvSpPr>
          <p:cNvPr id="39" name="dna-right">
            <a:extLst xmlns:a="http://schemas.openxmlformats.org/drawingml/2006/main">
              <a:ext uri="{FF2B5EF4-FFF2-40B4-BE49-F238E27FC236}">
                <a16:creationId xmlns:a16="http://schemas.microsoft.com/office/drawing/2014/main" id="{BF556210-D5FA-4156-A3B3-397CAB1F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467350"/>
            <a:ext cx="36195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73C7"/>
          </a:solidFill>
          <a:ln xmlns:a="http://schemas.openxmlformats.org/drawingml/2006/main" w="9525">
            <a:solidFill>
              <a:srgbClr val="5A4291"/>
            </a:solidFill>
            <a:prstDash val="solid"/>
          </a:ln>
        </p:spPr>
      </p:sp>
      <p:sp>
        <p:nvSpPr>
          <p:cNvPr id="40" name="cleavage-mark">
            <a:extLst xmlns:a="http://schemas.openxmlformats.org/drawingml/2006/main">
              <a:ext uri="{FF2B5EF4-FFF2-40B4-BE49-F238E27FC236}">
                <a16:creationId xmlns:a16="http://schemas.microsoft.com/office/drawing/2014/main" id="{8BFA2CC1-38F6-4C20-8F34-9732AE4E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5372100"/>
            <a:ext cx="2286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B4B"/>
          </a:solidFill>
          <a:ln xmlns:a="http://schemas.openxmlformats.org/drawingml/2006/main" w="9525">
            <a:solidFill>
              <a:srgbClr val="A52F2F"/>
            </a:solidFill>
            <a:prstDash val="solid"/>
          </a:ln>
        </p:spPr>
      </p:sp>
      <p:sp>
        <p:nvSpPr>
          <p:cNvPr id="41" name="cleavage-mark-label">
            <a:extLst xmlns:a="http://schemas.openxmlformats.org/drawingml/2006/main">
              <a:ext uri="{FF2B5EF4-FFF2-40B4-BE49-F238E27FC236}">
                <a16:creationId xmlns:a16="http://schemas.microsoft.com/office/drawing/2014/main" id="{75F127BC-9286-49F2-A0DB-95CE559F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53625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×</a:t>
            </a:r>
          </a:p>
        </p:txBody>
      </p:sp>
      <p:sp>
        <p:nvSpPr>
          <p:cNvPr id="42" name="nuclease-label">
            <a:extLst xmlns:a="http://schemas.openxmlformats.org/drawingml/2006/main">
              <a:ext uri="{FF2B5EF4-FFF2-40B4-BE49-F238E27FC236}">
                <a16:creationId xmlns:a16="http://schemas.microsoft.com/office/drawing/2014/main" id="{D0AA24FC-663E-48A0-848E-7232BD73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90550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DNA or RNA</a:t>
            </a:r>
          </a:p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cleavage</a:t>
            </a:r>
          </a:p>
        </p:txBody>
      </p:sp>
      <p:sp>
        <p:nvSpPr>
          <p:cNvPr id="43" name="brick-one">
            <a:extLst xmlns:a="http://schemas.openxmlformats.org/drawingml/2006/main">
              <a:ext uri="{FF2B5EF4-FFF2-40B4-BE49-F238E27FC236}">
                <a16:creationId xmlns:a16="http://schemas.microsoft.com/office/drawing/2014/main" id="{D41B1BA5-7BFB-4FF0-83A4-CE584EE7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54102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6C"/>
          </a:solidFill>
          <a:ln xmlns:a="http://schemas.openxmlformats.org/drawingml/2006/main" w="9525">
            <a:solidFill>
              <a:srgbClr val="8E622D"/>
            </a:solidFill>
            <a:prstDash val="solid"/>
          </a:ln>
        </p:spPr>
      </p:sp>
      <p:sp>
        <p:nvSpPr>
          <p:cNvPr id="44" name="brick-two">
            <a:extLst xmlns:a="http://schemas.openxmlformats.org/drawingml/2006/main">
              <a:ext uri="{FF2B5EF4-FFF2-40B4-BE49-F238E27FC236}">
                <a16:creationId xmlns:a16="http://schemas.microsoft.com/office/drawing/2014/main" id="{783869A3-7C3A-4E36-9C14-3E252D63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54102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6C"/>
          </a:solidFill>
          <a:ln xmlns:a="http://schemas.openxmlformats.org/drawingml/2006/main" w="9525">
            <a:solidFill>
              <a:srgbClr val="8E622D"/>
            </a:solidFill>
            <a:prstDash val="solid"/>
          </a:ln>
        </p:spPr>
      </p:sp>
      <p:sp>
        <p:nvSpPr>
          <p:cNvPr id="45" name="brick-three">
            <a:extLst xmlns:a="http://schemas.openxmlformats.org/drawingml/2006/main">
              <a:ext uri="{FF2B5EF4-FFF2-40B4-BE49-F238E27FC236}">
                <a16:creationId xmlns:a16="http://schemas.microsoft.com/office/drawing/2014/main" id="{9195EADE-A391-41EB-939B-7AAF24EA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561022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86C"/>
          </a:solidFill>
          <a:ln xmlns:a="http://schemas.openxmlformats.org/drawingml/2006/main" w="9525">
            <a:solidFill>
              <a:srgbClr val="8E622D"/>
            </a:solidFill>
            <a:prstDash val="solid"/>
          </a:ln>
        </p:spPr>
      </p:sp>
      <p:sp>
        <p:nvSpPr>
          <p:cNvPr id="46" name="missing-brick">
            <a:extLst xmlns:a="http://schemas.openxmlformats.org/drawingml/2006/main">
              <a:ext uri="{FF2B5EF4-FFF2-40B4-BE49-F238E27FC236}">
                <a16:creationId xmlns:a16="http://schemas.microsoft.com/office/drawing/2014/main" id="{1DDE90A2-329E-40B3-BCBD-33738B78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561022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4B4B"/>
            </a:solidFill>
            <a:prstDash val="solid"/>
          </a:ln>
        </p:spPr>
      </p:sp>
      <p:sp>
        <p:nvSpPr>
          <p:cNvPr id="47" name="wall-label">
            <a:extLst xmlns:a="http://schemas.openxmlformats.org/drawingml/2006/main">
              <a:ext uri="{FF2B5EF4-FFF2-40B4-BE49-F238E27FC236}">
                <a16:creationId xmlns:a16="http://schemas.microsoft.com/office/drawing/2014/main" id="{9415577E-34C6-49AE-9D58-ADA36ACC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590550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Peptidoglycan</a:t>
            </a:r>
          </a:p>
          <a:p xmlns:a="http://schemas.openxmlformats.org/drawingml/2006/main"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</a:rPr>
              <a:t>damage</a:t>
            </a:r>
          </a:p>
        </p:txBody>
      </p:sp>
    </p:spTree>
    <p:extLst>
      <p:ext uri="{BB962C8B-B14F-4D97-AF65-F5344CB8AC3E}">
        <p14:creationId xmlns:p14="http://schemas.microsoft.com/office/powerpoint/2010/main" val="2127150927"/>
      </p:ext>
    </p:extLst>
  </p:cSld>
</p:sld>
</file>

<file path=ppt/theme/theme1.xml><?xml version="1.0" encoding="utf-8"?>
<a:theme xmlns:a="http://schemas.openxmlformats.org/drawingml/2006/main" name="Sapiente">
  <a:themeElements>
    <a:clrScheme name="Sapient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apient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2026-09-02T18:49:04.4300000Z</dcterms:created>
  <dcterms:modified xsi:type="dcterms:W3CDTF">2026-09-02T18:49:04.4300000Z</dcterms:modified>
</coreProperties>
</file>